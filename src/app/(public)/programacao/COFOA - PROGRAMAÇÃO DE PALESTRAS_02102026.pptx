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1" r:id="rId4"/>
    <p:sldId id="260" r:id="rId5"/>
    <p:sldId id="268" r:id="rId6"/>
    <p:sldId id="262" r:id="rId7"/>
    <p:sldId id="266" r:id="rId8"/>
    <p:sldId id="264" r:id="rId9"/>
    <p:sldId id="265" r:id="rId10"/>
    <p:sldId id="267" r:id="rId11"/>
    <p:sldId id="263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5" r:id="rId20"/>
    <p:sldId id="279" r:id="rId21"/>
    <p:sldId id="276" r:id="rId22"/>
    <p:sldId id="258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5" autoAdjust="0"/>
    <p:restoredTop sz="68587" autoAdjust="0"/>
  </p:normalViewPr>
  <p:slideViewPr>
    <p:cSldViewPr snapToGrid="0">
      <p:cViewPr varScale="1">
        <p:scale>
          <a:sx n="85" d="100"/>
          <a:sy n="85" d="100"/>
        </p:scale>
        <p:origin x="1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099B9-B831-40BB-A3FE-6DF83A2A6263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F974A-4C99-4207-B223-81E151B6C9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93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Professor titular no Instituto de Química de Araraquara(UNESP). </a:t>
            </a:r>
          </a:p>
          <a:p>
            <a:r>
              <a:rPr lang="pt-BR" dirty="0"/>
              <a:t>Graduação em Física pela Universidade Federal de São Carlos (UFSCar) Mestre e Doutor em Ciência e Engenharia dos Materiais pela UFSCar Pesquisador visitante na </a:t>
            </a:r>
            <a:r>
              <a:rPr lang="pt-BR" dirty="0" err="1"/>
              <a:t>University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Tuebingen</a:t>
            </a:r>
            <a:r>
              <a:rPr lang="pt-BR" dirty="0"/>
              <a:t>, na </a:t>
            </a:r>
            <a:r>
              <a:rPr lang="pt-BR" dirty="0" err="1"/>
              <a:t>École</a:t>
            </a:r>
            <a:r>
              <a:rPr lang="pt-BR" dirty="0"/>
              <a:t> </a:t>
            </a:r>
            <a:r>
              <a:rPr lang="pt-BR" dirty="0" err="1"/>
              <a:t>Polytechnique</a:t>
            </a:r>
            <a:r>
              <a:rPr lang="pt-BR" dirty="0"/>
              <a:t> Montréal (</a:t>
            </a:r>
            <a:r>
              <a:rPr lang="pt-BR" dirty="0" err="1"/>
              <a:t>PolyMtl</a:t>
            </a:r>
            <a:r>
              <a:rPr lang="pt-BR" dirty="0"/>
              <a:t>)</a:t>
            </a:r>
          </a:p>
          <a:p>
            <a:r>
              <a:rPr lang="pt-BR" dirty="0"/>
              <a:t>Pesquisador visitante no Massachusetts </a:t>
            </a:r>
            <a:r>
              <a:rPr lang="pt-BR" dirty="0" err="1"/>
              <a:t>Institute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Technology (MIT)</a:t>
            </a:r>
          </a:p>
          <a:p>
            <a:r>
              <a:rPr lang="pt-BR" dirty="0"/>
              <a:t>Coordenador dos laboratórios de Microscopia Eletrônica do Instituto de Química de Araraquara. </a:t>
            </a:r>
          </a:p>
          <a:p>
            <a:endParaRPr lang="pt-BR" dirty="0"/>
          </a:p>
          <a:p>
            <a:r>
              <a:rPr lang="pt-BR" dirty="0"/>
              <a:t>Realiza pesquisas em Ciência e Engenharia de Materiais, com ênfase em materiais cerâmicos semicondutores. As aplicações dos materiais em estudo são: sensores de gás, </a:t>
            </a:r>
            <a:r>
              <a:rPr lang="pt-BR" dirty="0" err="1"/>
              <a:t>varistores</a:t>
            </a:r>
            <a:r>
              <a:rPr lang="pt-BR" dirty="0"/>
              <a:t> e </a:t>
            </a:r>
            <a:r>
              <a:rPr lang="pt-BR" dirty="0" err="1"/>
              <a:t>fotocatálise</a:t>
            </a:r>
            <a:r>
              <a:rPr lang="pt-BR" dirty="0"/>
              <a:t>. Possui+100 artigos científicos publicados em revistas internacionais, 7 capítulos de livros e é editor da mais completa obra sobre o óxido de estanho. Os artigos e livros tiveram mais de 5500 citações na plataforma Google Scholar. Atua na inovação tecnológica, onde foi empreendedor de 2018 a 2025, e como assessor de startups, e possui experiência na produção de patentes. É vice-diretor da Agência UNESP de Inovação, atuando também no empreendedorismo inovador na universidade.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68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Walter Cristiano </a:t>
            </a:r>
            <a:r>
              <a:rPr lang="pt-BR" dirty="0" err="1"/>
              <a:t>Gealh</a:t>
            </a:r>
            <a:endParaRPr lang="pt-BR" dirty="0"/>
          </a:p>
          <a:p>
            <a:r>
              <a:rPr lang="pt-BR" dirty="0"/>
              <a:t>Graduação em Odontologia pela Universidade Estadual de Maringá </a:t>
            </a:r>
          </a:p>
          <a:p>
            <a:r>
              <a:rPr lang="pt-BR" dirty="0"/>
              <a:t>Residência em CTBMF pela Universidade Estadual de Maringá </a:t>
            </a:r>
          </a:p>
          <a:p>
            <a:r>
              <a:rPr lang="pt-BR" dirty="0"/>
              <a:t>Mestrado em CTBMF pela FOA/UNESP</a:t>
            </a:r>
          </a:p>
          <a:p>
            <a:r>
              <a:rPr lang="pt-BR" dirty="0"/>
              <a:t>Doutorado em Odontologia Integrada pela Universidade Estadual de Maringá </a:t>
            </a:r>
          </a:p>
          <a:p>
            <a:r>
              <a:rPr lang="pt-BR" dirty="0"/>
              <a:t>Especialização em DOF e DTM </a:t>
            </a:r>
          </a:p>
          <a:p>
            <a:r>
              <a:rPr lang="pt-BR" dirty="0"/>
              <a:t>Especialização em Farmacologia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480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Graduada em Odontologia pela Universidade Federal de Alfenas MG – 1988.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Especialização em Periodontia pelo Associação Brasileira de Odontologia do Espírito Santo – ABO 2002.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Especialização em Prótese pela Associação Brasileira de Odontologia do Espírito Santo 2016.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Pós graduação em Implantodontia pela Faculdade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Funorte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2005.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Habilitação em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Ozonioterapia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Odontologia pela UNYLEYA EDITORA E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CURSOS S/A (2020) - Coordenado por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Sérgio Bruzadelli Macedo.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Atuou como Professora Assistente da Especialização em Implantodontia, curso-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Funorte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1998 – 2005.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Palestrante na área de Periodontia e Implantodontia em Congressos de Odontologia, Universidades e Cursos em ABO.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Professora  no curso de Habilitação em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Ozonioterapia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Odontologia na área de Periodontia e Implantodontia – Dr. Sérgio Bruzadelli Macedo;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 do Projeto de Extensão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Ozonioterapia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Clínica de Necroses dos Maxilares, coordenado pelo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Sérgio Bruzadelli, no Hospital Universitário de Brasília (HUB), desde setembro de 2019 até o presente momento.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Experiência Profissional em Consultório Particular há 35 anos.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Coautora de dois livros de Periodontia e Implantodontia  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Cirurgia Plástica (Periodontal e </a:t>
            </a:r>
            <a:r>
              <a:rPr lang="pt-B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Periimplantar</a:t>
            </a:r>
            <a:r>
              <a:rPr lang="pt-B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  <a:endParaRPr lang="pt-BR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2006 – Artes Medicas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Manipulação Tecidual (Possibilidades e Realidade)   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2011 - Editora Napoleão  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Coautora do Livro Nove Faces Integradas – A Arte de Integrar as 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Especialidades nas Nove Faces. Do Sagital ao Vertical 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Ozonioterapia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Clínica Ortodôntica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2023 – Editora Napoleão Ltda 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7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867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FERNANDO LOPES</a:t>
            </a:r>
            <a:endParaRPr lang="pt-BR" dirty="0"/>
          </a:p>
          <a:p>
            <a:r>
              <a:rPr lang="pt-BR" b="1" dirty="0"/>
              <a:t>BATATAIS - SP</a:t>
            </a:r>
            <a:endParaRPr lang="pt-BR" dirty="0"/>
          </a:p>
          <a:p>
            <a:r>
              <a:rPr lang="pt-BR" b="1" dirty="0"/>
              <a:t>TÉCNICO EM PRÓTESE DENTÁRIA</a:t>
            </a:r>
          </a:p>
          <a:p>
            <a:r>
              <a:rPr lang="pt-BR" dirty="0"/>
              <a:t>Formado pelo Instituto Francano de Prótese Odontológica (IFPO) no ano de 1999</a:t>
            </a:r>
          </a:p>
          <a:p>
            <a:r>
              <a:rPr lang="pt-BR" b="1" dirty="0"/>
              <a:t>CIRURGIÃO DENTISTA</a:t>
            </a:r>
          </a:p>
          <a:p>
            <a:r>
              <a:rPr lang="pt-BR" dirty="0"/>
              <a:t>Formado pela Universidade de Franca – UNIFRAN no ano de 2007</a:t>
            </a:r>
          </a:p>
          <a:p>
            <a:r>
              <a:rPr lang="pt-BR" b="1" dirty="0"/>
              <a:t>IMPLANTODONTISTA</a:t>
            </a:r>
          </a:p>
          <a:p>
            <a:r>
              <a:rPr lang="pt-BR" dirty="0"/>
              <a:t>Especializado pela Universidade de Ribeirão Preto – UNAERP no ano de 2015, atuando na área desde o ano de 2009</a:t>
            </a:r>
          </a:p>
          <a:p>
            <a:r>
              <a:rPr lang="pt-BR" dirty="0"/>
              <a:t>Mestrando no curso de Mestrado em Implantodontia na Faculdade ILAPEO</a:t>
            </a:r>
          </a:p>
          <a:p>
            <a:r>
              <a:rPr lang="pt-BR" b="1" dirty="0"/>
              <a:t>DIGITAL CENTER</a:t>
            </a:r>
          </a:p>
          <a:p>
            <a:r>
              <a:rPr lang="pt-BR" dirty="0"/>
              <a:t>CEO do laboratório de Prótese especializado em CAD/CAM – Digital Center.</a:t>
            </a:r>
            <a:br>
              <a:rPr lang="pt-BR" dirty="0"/>
            </a:br>
            <a:r>
              <a:rPr lang="pt-BR" dirty="0"/>
              <a:t>Responsável Técnico pelas 9 unidades nos estados de São Paulo e Minas Gerais</a:t>
            </a:r>
          </a:p>
          <a:p>
            <a:r>
              <a:rPr lang="pt-BR" b="1" dirty="0"/>
              <a:t>ITI MEMBER</a:t>
            </a:r>
          </a:p>
          <a:p>
            <a:r>
              <a:rPr lang="pt-BR" dirty="0"/>
              <a:t>Membro ativo do </a:t>
            </a:r>
            <a:r>
              <a:rPr lang="pt-BR" b="1" dirty="0" err="1"/>
              <a:t>International</a:t>
            </a:r>
            <a:r>
              <a:rPr lang="pt-BR" b="1" dirty="0"/>
              <a:t> Team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Implantology</a:t>
            </a:r>
            <a:r>
              <a:rPr lang="pt-BR" dirty="0"/>
              <a:t> desde o ano de 2015</a:t>
            </a:r>
          </a:p>
          <a:p>
            <a:r>
              <a:rPr lang="pt-BR" b="1" dirty="0"/>
              <a:t>STRAUMANN/NEODENT</a:t>
            </a:r>
          </a:p>
          <a:p>
            <a:r>
              <a:rPr lang="pt-BR" dirty="0"/>
              <a:t>Speaker Digital, representando a empresa desde o ano de 2017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50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Nome: Paulo Eduardo Ferraz </a:t>
            </a:r>
            <a:r>
              <a:rPr lang="pt-BR" dirty="0" err="1"/>
              <a:t>Bottura</a:t>
            </a:r>
            <a:r>
              <a:rPr lang="pt-BR" dirty="0"/>
              <a:t> Filho CPF: 277.036.668-82 CROSP: 71.724- </a:t>
            </a:r>
            <a:r>
              <a:rPr lang="pt-BR" dirty="0" err="1"/>
              <a:t>Cururgião</a:t>
            </a:r>
            <a:r>
              <a:rPr lang="pt-BR" dirty="0"/>
              <a:t> Dentista - Faculdade de Odontologia de Lins- UNIMEP- 2000- Especialista em Periodontia- F O A - UNESP Araçatuba- 2003- Mestre - Faculdade de Medicina de São José do Rio Preto - FAMERP - 2012- Especialista em Implantes - COE São José do Rio Preto - 2013- DSD Team </a:t>
            </a:r>
            <a:r>
              <a:rPr lang="pt-BR" dirty="0" err="1"/>
              <a:t>Member</a:t>
            </a:r>
            <a:r>
              <a:rPr lang="pt-BR" dirty="0"/>
              <a:t>- Miami - 2014.- </a:t>
            </a:r>
            <a:r>
              <a:rPr lang="pt-BR" dirty="0" err="1"/>
              <a:t>Ex</a:t>
            </a:r>
            <a:r>
              <a:rPr lang="pt-BR" dirty="0"/>
              <a:t> professor de Cirurgia, Periodontia e Anestesiologia da </a:t>
            </a:r>
            <a:r>
              <a:rPr lang="pt-BR" dirty="0" err="1"/>
              <a:t>Unirp</a:t>
            </a:r>
            <a:r>
              <a:rPr lang="pt-BR" dirty="0"/>
              <a:t>- São José do Rio Preto.- </a:t>
            </a:r>
            <a:r>
              <a:rPr lang="pt-BR" dirty="0" err="1"/>
              <a:t>Co-autor</a:t>
            </a:r>
            <a:r>
              <a:rPr lang="pt-BR" dirty="0"/>
              <a:t> dos livros “</a:t>
            </a:r>
            <a:r>
              <a:rPr lang="pt-BR" dirty="0" err="1"/>
              <a:t>Cad</a:t>
            </a:r>
            <a:r>
              <a:rPr lang="pt-BR" dirty="0"/>
              <a:t> </a:t>
            </a:r>
            <a:r>
              <a:rPr lang="pt-BR" dirty="0" err="1"/>
              <a:t>Cam</a:t>
            </a:r>
            <a:r>
              <a:rPr lang="pt-BR" dirty="0"/>
              <a:t> no laboratório e na Clínica” e “Arquitetura Facial"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30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Nome completo: Karina Camillo </a:t>
            </a:r>
            <a:r>
              <a:rPr lang="pt-BR" dirty="0" err="1"/>
              <a:t>CarrascozaÁrea</a:t>
            </a:r>
            <a:r>
              <a:rPr lang="pt-BR" dirty="0"/>
              <a:t> de atuação: Servidora Pública (Coordenadora de Saúde Bucal Município de Itupeva); Professora e </a:t>
            </a:r>
            <a:r>
              <a:rPr lang="pt-BR" dirty="0" err="1"/>
              <a:t>Co-fundadora</a:t>
            </a:r>
            <a:r>
              <a:rPr lang="pt-BR" dirty="0"/>
              <a:t> da Plataforma </a:t>
            </a:r>
            <a:r>
              <a:rPr lang="pt-BR" dirty="0" err="1"/>
              <a:t>Odontoquiz.Título</a:t>
            </a:r>
            <a:r>
              <a:rPr lang="pt-BR" dirty="0"/>
              <a:t> da palestra (título fica a sua escolha, conforme o tema solicitado): Odonto além do consultório: como se preparar para concursos públicos.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Mini currículo:- Graduação em Odontologia: FOP / Unicamp (2001)- Especialização em Endodontia (APCD)- Especialização em Gestão Pública em Saúde (Unicamp) - Mestrado em Farmacologia, Anestesiologia e Terapêutica (Unicamp) - Doutorado em Saúde da Criança e do Adolescente (Unicamp)- Pesquisadora Universidade de </a:t>
            </a:r>
            <a:r>
              <a:rPr lang="pt-BR" dirty="0" err="1"/>
              <a:t>Tübingen</a:t>
            </a:r>
            <a:r>
              <a:rPr lang="pt-BR" dirty="0"/>
              <a:t> – Alemanha- Cofundadora da Plataforma </a:t>
            </a:r>
            <a:r>
              <a:rPr lang="pt-BR" dirty="0" err="1"/>
              <a:t>OdontoQuiz</a:t>
            </a:r>
            <a:r>
              <a:rPr lang="pt-BR" dirty="0"/>
              <a:t>- Convocada em 6 Concursos Públicos: Prefeitura Municipal Americana (2x), Prefeitura Municipal Campinas, Prefeitura Municipal Santa Bárbara </a:t>
            </a:r>
            <a:r>
              <a:rPr lang="pt-BR" dirty="0" err="1"/>
              <a:t>S’Oeste</a:t>
            </a:r>
            <a:r>
              <a:rPr lang="pt-BR" dirty="0"/>
              <a:t>, Prefeitura Municipal Cabreúva, Prefeitura Municipal Itupeva. - Vínculos de Trabalho: Prefeitura Municipal de Americana, Prefeitura Municipal de Sumaré, Prefeitura Municipal de Campinas, Prefeitura Municipal de Itupeva – Coordenadora de Saúde Bucal.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F974A-4C99-4207-B223-81E151B6C9DC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220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98330-8F64-483C-953B-ED450EAE9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BCD9D0-7085-41EC-8788-D0711B513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16E17A-015F-4CBD-8250-8DDAC732E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C6A1D-062E-47F8-9085-79489A3E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C21FB3-F660-49AB-A61D-60F68333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08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3DCA7-2A9E-400A-AB6A-A7ABFBD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39860D-3748-47EC-9FCA-EB68C72D7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BA72E8-2FF0-4A32-BFC3-673B425C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CE48D3-D756-425D-9E60-BD45CC2B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12A735-F7A6-412B-8542-5E149D40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65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74D45-1148-4300-A14D-7FD514D4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4D6C22-F070-4C05-9F56-41FA50D54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2E9DD-8F85-4F3F-99E9-1D6AE058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902F57-8F32-45AE-AAF7-CB62AC44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B22664-3DA0-4085-9238-8FA8F495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15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5900-FED2-4DAB-9054-497718C6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9BE168-11B7-4ED4-BF5C-0C5985034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786D9E-3FE4-4E5A-A28D-2632673FD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3840AE-0E2E-4D31-A444-59B5923E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00F966-1D61-4108-889A-80502019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DBEF6C-F176-4492-9674-D7884151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10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4EE60-AD61-46A9-B861-02BB23B2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07FD1-8B30-4084-90DA-A981309DF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BED4E6-82F5-4AA3-AFC4-F33752ABB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610F2C-073E-4F2B-924E-14E2667AB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98157-5C53-4957-8D41-AE9D109C3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A6CAA8-33C5-4095-A9E3-7CDC8515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1CBD73-6E65-4F11-8576-003E10F2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A4CB5E-A678-4D17-AF49-FF6583FF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2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524ED-2636-4D78-A083-C98DF53E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AAA1AB4-5E68-4071-BC70-3D454763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2C3493-E8A7-4BF6-B26E-BC4CB078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F2857A-6001-481B-89DA-87948EFE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6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0D5EC52-0E7D-4066-B881-6FB549E2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DDC630-3882-482A-8D1E-4C2A3104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757F3B-1E9D-45A3-9DBC-B5421860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3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4814C-DF10-4B94-93DD-E7230F18F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1CD5CC-8AE9-4E88-926E-BB4F1F1E7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2836EA-7DB3-405D-9D39-2B717C0C7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08E324-6A67-49B0-8539-FB15ED4A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65DAC4-FE39-47D9-99B1-346E4458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3D7DF7-DD87-4DE5-B3F0-6FE47CF3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56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346F8-B909-4DC7-A344-99C88662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D02444-FD92-45A4-BADF-B830FADCC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00E368-FA66-4B15-8FEA-7E54C14F3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763B35-4DFD-498B-BCB0-9BDB0F9D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5DB100-B633-4914-9D2C-8C1385DE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E8F2E1-B915-4F76-B057-8A0D9648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4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2357D-A8C0-4CD5-8737-81D4B794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B05C27-7E83-4908-9744-CA184043B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B35145-C3D7-405E-948D-A278012F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938AFE-8284-45A5-BB8B-70116588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34D109-AA68-427B-BAF4-3A5DE11A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73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0BD9DE-6577-4F9B-BD16-F6089D11A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94B79A-16A1-4E52-A6B1-65DBF0D7C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911BF0-9F75-45DD-9895-60857C09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CBACC4-849C-4701-9877-0BC9B60B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1C0ED6-584D-4A82-95ED-59DCA5E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62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2DE61E2-EEC7-4AD4-AD27-0212E4301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989033-B0EE-48BC-853F-558507B13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736957-921C-4635-87F8-139C27546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0A596-8632-4804-8F07-A80B3EBDF245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19247E-8A31-4E93-BC00-339CF327A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FE71AE-A7BC-4994-B216-9DB3A5AC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BF741-3C95-4244-8CA9-A1F333665DC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3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1D172-CF18-45B4-B0F3-5DBA490F20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DE PALESTRAS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76E0E5-126C-42C7-855A-555333878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7226"/>
            <a:ext cx="9144000" cy="1209173"/>
          </a:xfrm>
        </p:spPr>
        <p:txBody>
          <a:bodyPr>
            <a:noAutofit/>
          </a:bodyPr>
          <a:lstStyle/>
          <a:p>
            <a:r>
              <a:rPr lang="pt-BR" sz="2800" dirty="0"/>
              <a:t>SIMPÓSIO DA PÓS GRADUAÇÃO</a:t>
            </a:r>
          </a:p>
          <a:p>
            <a:r>
              <a:rPr lang="pt-BR" sz="2800" dirty="0"/>
              <a:t>26/11/2026</a:t>
            </a:r>
          </a:p>
        </p:txBody>
      </p:sp>
    </p:spTree>
    <p:extLst>
      <p:ext uri="{BB962C8B-B14F-4D97-AF65-F5344CB8AC3E}">
        <p14:creationId xmlns:p14="http://schemas.microsoft.com/office/powerpoint/2010/main" val="2223262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7" y="15656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“Ecossistema de Inovação da Unesp - Transformando o Futuro”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658" y="1825625"/>
            <a:ext cx="5007142" cy="4351338"/>
          </a:xfrm>
        </p:spPr>
        <p:txBody>
          <a:bodyPr/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2F4A2F25-06D1-4ECA-BC5A-653ED6264FF4}"/>
              </a:ext>
            </a:extLst>
          </p:cNvPr>
          <p:cNvSpPr txBox="1">
            <a:spLocks/>
          </p:cNvSpPr>
          <p:nvPr/>
        </p:nvSpPr>
        <p:spPr>
          <a:xfrm>
            <a:off x="4923878" y="331568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8:00h-9:50h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BF35104-13C2-42E0-B682-42856B880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8" y="1858276"/>
            <a:ext cx="4341437" cy="407009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93E1B2F-7330-4D68-80DA-742D93954BC8}"/>
              </a:ext>
            </a:extLst>
          </p:cNvPr>
          <p:cNvSpPr/>
          <p:nvPr/>
        </p:nvSpPr>
        <p:spPr>
          <a:xfrm>
            <a:off x="4923878" y="1502688"/>
            <a:ext cx="702338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Professor titular no Instituto de Química de Araraquara(UNESP). </a:t>
            </a:r>
          </a:p>
          <a:p>
            <a:r>
              <a:rPr lang="pt-BR" dirty="0"/>
              <a:t>Graduação em Física pela Universidade Federal de São Carlos (UFSCar) Mestre e Doutor em Ciência e Engenharia dos Materiais pela UFSCar Pesquisador visitante na </a:t>
            </a:r>
            <a:r>
              <a:rPr lang="pt-BR" dirty="0" err="1"/>
              <a:t>University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Tuebingen</a:t>
            </a:r>
            <a:r>
              <a:rPr lang="pt-BR" dirty="0"/>
              <a:t>, na </a:t>
            </a:r>
            <a:r>
              <a:rPr lang="pt-BR" dirty="0" err="1"/>
              <a:t>École</a:t>
            </a:r>
            <a:r>
              <a:rPr lang="pt-BR" dirty="0"/>
              <a:t> </a:t>
            </a:r>
            <a:r>
              <a:rPr lang="pt-BR" dirty="0" err="1"/>
              <a:t>Polytechnique</a:t>
            </a:r>
            <a:r>
              <a:rPr lang="pt-BR" dirty="0"/>
              <a:t> Montréal (</a:t>
            </a:r>
            <a:r>
              <a:rPr lang="pt-BR" dirty="0" err="1"/>
              <a:t>PolyMtl</a:t>
            </a:r>
            <a:r>
              <a:rPr lang="pt-BR" dirty="0"/>
              <a:t>)</a:t>
            </a:r>
          </a:p>
          <a:p>
            <a:r>
              <a:rPr lang="pt-BR" dirty="0"/>
              <a:t>Pesquisador visitante no Massachusetts </a:t>
            </a:r>
            <a:r>
              <a:rPr lang="pt-BR" dirty="0" err="1"/>
              <a:t>Institute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Technology (MIT)</a:t>
            </a:r>
          </a:p>
          <a:p>
            <a:r>
              <a:rPr lang="pt-BR" dirty="0"/>
              <a:t>Coordenador dos laboratórios de Microscopia Eletrônica do Instituto de Química de Araraquara. </a:t>
            </a:r>
          </a:p>
          <a:p>
            <a:endParaRPr lang="pt-BR" dirty="0"/>
          </a:p>
          <a:p>
            <a:r>
              <a:rPr lang="pt-BR" dirty="0"/>
              <a:t>Realiza pesquisas em Ciência e Engenharia de Materiais, com ênfase em materiais cerâmicos semicondutores. As aplicações dos materiais em estudo são: sensores de gás, </a:t>
            </a:r>
            <a:r>
              <a:rPr lang="pt-BR" dirty="0" err="1"/>
              <a:t>varistores</a:t>
            </a:r>
            <a:r>
              <a:rPr lang="pt-BR" dirty="0"/>
              <a:t> e </a:t>
            </a:r>
            <a:r>
              <a:rPr lang="pt-BR" dirty="0" err="1"/>
              <a:t>fotocatálise</a:t>
            </a:r>
            <a:r>
              <a:rPr lang="pt-BR" dirty="0"/>
              <a:t>. Possui+100 artigos científicos publicados em revistas internacionais, 7 capítulos de livros e é editor da mais completa obra sobre o óxido de estanho. Os artigos e livros tiveram mais de 5500 citações na plataforma Google Scholar. Atua na inovação tecnológica, onde foi empreendedor de 2018 a 2025, e como assessor de startups, e possui experiência na produção de patentes. É vice-diretor da Agência UNESP de Inovação, atuando também no empreendedorismo inovador na universidade.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021E4E3-0739-41D9-A182-C0913D0F4CEF}"/>
              </a:ext>
            </a:extLst>
          </p:cNvPr>
          <p:cNvSpPr/>
          <p:nvPr/>
        </p:nvSpPr>
        <p:spPr>
          <a:xfrm>
            <a:off x="6954193" y="1052622"/>
            <a:ext cx="3371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Dr. Marcelo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Ornaghi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Orlandi</a:t>
            </a:r>
          </a:p>
        </p:txBody>
      </p:sp>
    </p:spTree>
    <p:extLst>
      <p:ext uri="{BB962C8B-B14F-4D97-AF65-F5344CB8AC3E}">
        <p14:creationId xmlns:p14="http://schemas.microsoft.com/office/powerpoint/2010/main" val="149841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“Legislação da Odontologia da HOF - Simpósio”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D1DE874-4AE7-48DE-B340-30B77AE30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70" y="189471"/>
            <a:ext cx="4322747" cy="6479058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E633B3-C167-4257-A398-0F8902931B58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10:10h-12:00h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C7779D7-3331-4CF1-B0A9-2C440ABFB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177" y="2233998"/>
            <a:ext cx="6152941" cy="4351338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- Graduada em Odontologia pela Faculdade de Odontologia de Lins (FOL) </a:t>
            </a:r>
          </a:p>
          <a:p>
            <a:r>
              <a:rPr lang="pt-BR" dirty="0"/>
              <a:t>- 1994- Especialista em Periodontia- ABO MS - Especialista em Harmonização Orofacial - CFO </a:t>
            </a:r>
          </a:p>
          <a:p>
            <a:r>
              <a:rPr lang="pt-BR" dirty="0"/>
              <a:t>- Mestre em Educação e Saúde- UNAERP</a:t>
            </a:r>
          </a:p>
          <a:p>
            <a:r>
              <a:rPr lang="pt-BR" dirty="0"/>
              <a:t>- ⁠Presidente do Conselho Regional de Odontologia de São Paulo biênio 2026/2027 </a:t>
            </a:r>
          </a:p>
          <a:p>
            <a:r>
              <a:rPr lang="pt-BR" dirty="0"/>
              <a:t>- Professora responsável da Especialização em Harmonização Orofacial - FUNORTE Uberaba </a:t>
            </a:r>
          </a:p>
          <a:p>
            <a:r>
              <a:rPr lang="pt-BR" dirty="0"/>
              <a:t>- Diretora da Sociedade Brasileira de Toxina Botulínica e Implantes Faciais na Odontologia (SBTI) - 2017 a 2022</a:t>
            </a:r>
          </a:p>
          <a:p>
            <a:pPr>
              <a:buFontTx/>
              <a:buChar char="-"/>
            </a:pPr>
            <a:r>
              <a:rPr lang="pt-BR" dirty="0"/>
              <a:t>Speaker </a:t>
            </a:r>
            <a:r>
              <a:rPr lang="pt-BR" dirty="0" err="1"/>
              <a:t>Allergan</a:t>
            </a:r>
            <a:r>
              <a:rPr lang="pt-BR" dirty="0"/>
              <a:t> </a:t>
            </a:r>
            <a:r>
              <a:rPr lang="pt-BR" dirty="0" err="1"/>
              <a:t>Aesthetics</a:t>
            </a:r>
            <a:endParaRPr lang="pt-BR" dirty="0"/>
          </a:p>
          <a:p>
            <a:pPr>
              <a:buFontTx/>
              <a:buChar char="-"/>
            </a:pPr>
            <a:r>
              <a:rPr lang="pt-BR" dirty="0"/>
              <a:t>- Membro do Programa Botox Masters </a:t>
            </a:r>
            <a:r>
              <a:rPr lang="pt-BR" dirty="0" err="1"/>
              <a:t>Allergan</a:t>
            </a:r>
            <a:r>
              <a:rPr lang="pt-BR" dirty="0"/>
              <a:t> </a:t>
            </a:r>
            <a:r>
              <a:rPr lang="pt-BR" dirty="0" err="1"/>
              <a:t>Aesthetics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B258D1-180E-4D99-BB12-205D52E1AB7D}"/>
              </a:ext>
            </a:extLst>
          </p:cNvPr>
          <p:cNvSpPr/>
          <p:nvPr/>
        </p:nvSpPr>
        <p:spPr>
          <a:xfrm>
            <a:off x="7642877" y="1593011"/>
            <a:ext cx="2017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Karina Ferrão </a:t>
            </a:r>
          </a:p>
        </p:txBody>
      </p:sp>
    </p:spTree>
    <p:extLst>
      <p:ext uri="{BB962C8B-B14F-4D97-AF65-F5344CB8AC3E}">
        <p14:creationId xmlns:p14="http://schemas.microsoft.com/office/powerpoint/2010/main" val="77586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1D172-CF18-45B4-B0F3-5DBA490F20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DE PALESTRAS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76E0E5-126C-42C7-855A-555333878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7227"/>
            <a:ext cx="9144000" cy="457200"/>
          </a:xfrm>
        </p:spPr>
        <p:txBody>
          <a:bodyPr/>
          <a:lstStyle/>
          <a:p>
            <a:r>
              <a:rPr lang="pt-BR" dirty="0"/>
              <a:t>CONGRESSO DE ODONTOLOGIA FOA</a:t>
            </a:r>
          </a:p>
        </p:txBody>
      </p:sp>
    </p:spTree>
    <p:extLst>
      <p:ext uri="{BB962C8B-B14F-4D97-AF65-F5344CB8AC3E}">
        <p14:creationId xmlns:p14="http://schemas.microsoft.com/office/powerpoint/2010/main" val="311551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50778-DF07-4845-9CE5-53AE9FF2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QUINTA – 26/11/2026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8C7CFD-6F58-4DB1-A634-68387643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466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“</a:t>
            </a:r>
            <a:r>
              <a:rPr lang="pt-BR" sz="2700" dirty="0"/>
              <a:t>Bases do Fluxo Digital Aplicado à Periodontia e Implantodontia</a:t>
            </a:r>
            <a:r>
              <a:rPr lang="pt-BR" sz="2400" dirty="0"/>
              <a:t>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658" y="1825625"/>
            <a:ext cx="5007142" cy="4351338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*Professor de Implantodontia no Departamento de Cirurgia e Traumatologia Buco-Maxilo-Facial e Periodontia da FORP-USP</a:t>
            </a:r>
          </a:p>
          <a:p>
            <a:r>
              <a:rPr lang="pt-BR" dirty="0"/>
              <a:t>* Especialista em Periodontia</a:t>
            </a:r>
          </a:p>
          <a:p>
            <a:r>
              <a:rPr lang="pt-BR" dirty="0"/>
              <a:t>* Especialista em Odontologia Hospitalar</a:t>
            </a:r>
          </a:p>
          <a:p>
            <a:r>
              <a:rPr lang="pt-BR" dirty="0"/>
              <a:t>* Mestrado em Reabilitação Oral e Doutorado em Periodontia- FOB-USP</a:t>
            </a:r>
          </a:p>
          <a:p>
            <a:r>
              <a:rPr lang="pt-BR" dirty="0"/>
              <a:t>* Pós-doutorado- FOB-USP</a:t>
            </a:r>
          </a:p>
          <a:p>
            <a:r>
              <a:rPr lang="pt-BR" dirty="0"/>
              <a:t>* </a:t>
            </a:r>
            <a:r>
              <a:rPr lang="pt-BR" dirty="0" err="1"/>
              <a:t>Osteology</a:t>
            </a:r>
            <a:r>
              <a:rPr lang="pt-BR" dirty="0"/>
              <a:t> Scholar - Harvard </a:t>
            </a:r>
            <a:r>
              <a:rPr lang="pt-BR" dirty="0" err="1"/>
              <a:t>School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Dental Medicine</a:t>
            </a:r>
          </a:p>
          <a:p>
            <a:r>
              <a:rPr lang="pt-BR" dirty="0"/>
              <a:t>* Membro do Comitê Diretivo do </a:t>
            </a:r>
            <a:r>
              <a:rPr lang="pt-BR" dirty="0" err="1"/>
              <a:t>National</a:t>
            </a:r>
            <a:r>
              <a:rPr lang="pt-BR" dirty="0"/>
              <a:t> </a:t>
            </a:r>
            <a:r>
              <a:rPr lang="pt-BR" dirty="0" err="1"/>
              <a:t>Osteology</a:t>
            </a:r>
            <a:r>
              <a:rPr lang="pt-BR" dirty="0"/>
              <a:t>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Brazil</a:t>
            </a:r>
            <a:endParaRPr lang="pt-BR" dirty="0"/>
          </a:p>
          <a:p>
            <a:r>
              <a:rPr lang="pt-BR" dirty="0"/>
              <a:t>* Cursos de atualização em planejamento CAD/CAM, cirurgia guiada, impressão 3D e </a:t>
            </a:r>
            <a:r>
              <a:rPr lang="pt-BR" dirty="0" err="1"/>
              <a:t>bioimpressão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DD046C-6925-4B65-9AF3-946367137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09" y="1281363"/>
            <a:ext cx="4463884" cy="44638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50C9020-34A7-4440-B8FF-7D3FC3B8A7E9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8:00h-9:50h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D2A4DE8-6759-411B-ACD6-AAD545E218FB}"/>
              </a:ext>
            </a:extLst>
          </p:cNvPr>
          <p:cNvSpPr/>
          <p:nvPr/>
        </p:nvSpPr>
        <p:spPr>
          <a:xfrm>
            <a:off x="7595277" y="1456293"/>
            <a:ext cx="3121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Dr. Vitor de Toledo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Stuani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042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"Odontologia além do consultório: a atuação do cirurgião-dentista no atendimento domiciliar"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6F3B54C-7C57-42EF-A55B-A1278CA811F3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10:10h-12:00h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B0DFB4-778D-4619-99F6-F521C1632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2929322" cy="635083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F53A539-A1B3-4066-85C7-26B174F2F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5771" y="2117478"/>
            <a:ext cx="712802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Graduado em Odontologia pela Organização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Santamarense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Educação e Cultura (1993).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Especialista em Implantodontia pela Universidade de Santo Amaro (UNISA) (2001) e em Biologia Celular e Morfologia pela Escola Paulista de Medicina (2003).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Mestre em Odontologia – Implantodontia pela Universidade Estadual Paulista (UNESP) (2004).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Doutor em Odontologia pela Universidade Estadual Paulista (UNESP) (2012).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Coordenador de Conteúdo da ABLA+.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Coordenador dos cursos da Prime Reabilitação e Estética.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Diretor Clínico da Clínica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Abla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Atua na área de Odontologia, com ênfase em Implantodontia, reabilitação oral, cirurgia e estética facial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800" dirty="0">
                <a:latin typeface="Arial" panose="020B0604020202020204" pitchFamily="34" charset="0"/>
              </a:rPr>
              <a:t>Fundador da Gent Odonto </a:t>
            </a:r>
            <a:r>
              <a:rPr lang="pt-BR" altLang="pt-BR" sz="1800" dirty="0" err="1">
                <a:latin typeface="Arial" panose="020B0604020202020204" pitchFamily="34" charset="0"/>
              </a:rPr>
              <a:t>Care</a:t>
            </a:r>
            <a:r>
              <a:rPr lang="pt-BR" altLang="pt-BR" sz="1800" dirty="0">
                <a:latin typeface="Arial" panose="020B0604020202020204" pitchFamily="34" charset="0"/>
              </a:rPr>
              <a:t> em 2020 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tângulo 5">
            <a:extLst>
              <a:ext uri="{FF2B5EF4-FFF2-40B4-BE49-F238E27FC236}">
                <a16:creationId xmlns:a16="http://schemas.microsoft.com/office/drawing/2014/main" id="{55D0128D-1699-34BB-6780-AC9E5048A132}"/>
              </a:ext>
            </a:extLst>
          </p:cNvPr>
          <p:cNvSpPr/>
          <p:nvPr/>
        </p:nvSpPr>
        <p:spPr>
          <a:xfrm>
            <a:off x="6096000" y="1510734"/>
            <a:ext cx="4612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/>
              <a:t>Prof. Dr. Marcelo Sabbag Abla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32493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"Cirurgias estéticas da face na odontologia moderna"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177" y="2233998"/>
            <a:ext cx="6152941" cy="4351338"/>
          </a:xfrm>
        </p:spPr>
        <p:txBody>
          <a:bodyPr>
            <a:normAutofit/>
          </a:bodyPr>
          <a:lstStyle/>
          <a:p>
            <a:r>
              <a:rPr lang="pt-BR" sz="2000" dirty="0"/>
              <a:t>-Graduação em Odontologia pela Universidade Estadual de Maringá </a:t>
            </a:r>
          </a:p>
          <a:p>
            <a:r>
              <a:rPr lang="pt-BR" sz="2000" dirty="0"/>
              <a:t>Residência em CTBMF pela Universidade Estadual de Maringá </a:t>
            </a:r>
          </a:p>
          <a:p>
            <a:r>
              <a:rPr lang="pt-BR" sz="2000" dirty="0"/>
              <a:t>Mestrado em CTBMF pela FOA/UNESP</a:t>
            </a:r>
          </a:p>
          <a:p>
            <a:r>
              <a:rPr lang="pt-BR" sz="2000" dirty="0"/>
              <a:t>Doutorado em Odontologia Integrada pela Universidade Estadual de Maringá </a:t>
            </a:r>
          </a:p>
          <a:p>
            <a:r>
              <a:rPr lang="pt-BR" sz="2000" dirty="0"/>
              <a:t>Especialização em Dor Orofacial (DOF) e Disfunção Temporomandibular (DTM)</a:t>
            </a:r>
          </a:p>
          <a:p>
            <a:r>
              <a:rPr lang="pt-BR" sz="2000" dirty="0"/>
              <a:t>Especialização em Farmacologia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3BB2245-465B-4457-A33A-73511AE0DE8E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14:00h-15:50h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A248C72-2694-4123-8089-979D9A4745E9}"/>
              </a:ext>
            </a:extLst>
          </p:cNvPr>
          <p:cNvSpPr/>
          <p:nvPr/>
        </p:nvSpPr>
        <p:spPr>
          <a:xfrm>
            <a:off x="7482545" y="1593011"/>
            <a:ext cx="3160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Dr. Walter Cristiano </a:t>
            </a:r>
            <a:r>
              <a:rPr lang="pt-BR" b="1" dirty="0" err="1"/>
              <a:t>Gealh</a:t>
            </a:r>
            <a:endParaRPr lang="pt-BR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9BE765-282A-DBB4-0000-FEC54E6AA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76" b="11086"/>
          <a:stretch/>
        </p:blipFill>
        <p:spPr>
          <a:xfrm>
            <a:off x="609601" y="277318"/>
            <a:ext cx="3583202" cy="60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39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“Sedação: Técnicas, Indicações e Aplicações Clínicas”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227" y="2623623"/>
            <a:ext cx="6507895" cy="340715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Graduação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MEDICINA pela </a:t>
            </a:r>
            <a:r>
              <a:rPr lang="en-US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Universidade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São Paulo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Especialização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Residência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médica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Anestesiologia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Hospital das Clínicas da Faculdade de Medicina de Ribeirão Preto – USP</a:t>
            </a:r>
          </a:p>
          <a:p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Título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Especialista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Anestesiologia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pela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Sociedade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Brasileira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Anestesiologia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(SBA)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Sócio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Anestesiologia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Araçatuba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(SAA)</a:t>
            </a:r>
          </a:p>
          <a:p>
            <a:pPr algn="l"/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04E1C-677E-31D4-39B2-1887BAF7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" t="8410" r="56254" b="16804"/>
          <a:stretch/>
        </p:blipFill>
        <p:spPr>
          <a:xfrm>
            <a:off x="420128" y="580816"/>
            <a:ext cx="4843849" cy="569636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C8042B8-8142-6C05-1DAF-3F0DEE1BF7EC}"/>
              </a:ext>
            </a:extLst>
          </p:cNvPr>
          <p:cNvSpPr/>
          <p:nvPr/>
        </p:nvSpPr>
        <p:spPr>
          <a:xfrm>
            <a:off x="6031657" y="1834487"/>
            <a:ext cx="44015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/>
              <a:t>Dr. Gustavo </a:t>
            </a:r>
            <a:r>
              <a:rPr lang="pt-BR" sz="2800" b="1" dirty="0" err="1"/>
              <a:t>Gregorin</a:t>
            </a:r>
            <a:r>
              <a:rPr lang="pt-BR" sz="2800" b="1" dirty="0"/>
              <a:t> Coelho</a:t>
            </a:r>
            <a:endParaRPr lang="pt-BR" sz="2800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4F46716D-4D8F-4A49-9A55-F6D952856132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16:10h-18:00h</a:t>
            </a:r>
          </a:p>
        </p:txBody>
      </p:sp>
    </p:spTree>
    <p:extLst>
      <p:ext uri="{BB962C8B-B14F-4D97-AF65-F5344CB8AC3E}">
        <p14:creationId xmlns:p14="http://schemas.microsoft.com/office/powerpoint/2010/main" val="254038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8337A-C572-498F-9E85-4869C533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SEXTA – 27/11/2026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C3F1DA-50EE-4337-8688-C10265E1F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875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"Cirurgia </a:t>
            </a:r>
            <a:r>
              <a:rPr lang="pt-BR" sz="2400" dirty="0" err="1"/>
              <a:t>Ortognática</a:t>
            </a:r>
            <a:r>
              <a:rPr lang="pt-BR" sz="2400" dirty="0"/>
              <a:t> na era digital: Do Planejamento virtual à sala cirúrgica”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6922FCB-3358-422D-B3FF-E7A204D4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464" y="1825625"/>
            <a:ext cx="5654336" cy="4351338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- Cirurgião </a:t>
            </a:r>
            <a:r>
              <a:rPr lang="pt-BR" dirty="0" err="1"/>
              <a:t>Bucomaxilofacial</a:t>
            </a:r>
            <a:r>
              <a:rPr lang="pt-BR" dirty="0"/>
              <a:t> do Hospital das Clínicas da Faculdade de Medicina da Universidade de São Paulo – USP</a:t>
            </a:r>
          </a:p>
          <a:p>
            <a:r>
              <a:rPr lang="pt-BR" dirty="0"/>
              <a:t>- ⁠Cirurgião </a:t>
            </a:r>
            <a:r>
              <a:rPr lang="pt-BR" dirty="0" err="1"/>
              <a:t>Bucomaxilofacial</a:t>
            </a:r>
            <a:r>
              <a:rPr lang="pt-BR" dirty="0"/>
              <a:t> do Hospital Universitário da USP- ⁠Residência em Cirurgia e Traumatologia </a:t>
            </a:r>
            <a:r>
              <a:rPr lang="pt-BR" dirty="0" err="1"/>
              <a:t>Bucomaxilofacial</a:t>
            </a:r>
            <a:r>
              <a:rPr lang="pt-BR" dirty="0"/>
              <a:t> pelo Hospital das Clínicas da Faculdade de Medicina da Universidade de São Paulo – USP</a:t>
            </a:r>
          </a:p>
          <a:p>
            <a:r>
              <a:rPr lang="pt-BR" dirty="0"/>
              <a:t>- ⁠</a:t>
            </a:r>
            <a:r>
              <a:rPr lang="pt-BR" dirty="0" err="1"/>
              <a:t>Fellowship</a:t>
            </a:r>
            <a:r>
              <a:rPr lang="pt-BR" dirty="0"/>
              <a:t> em Planejamento Cirúrgico Virtual no Houston </a:t>
            </a:r>
            <a:r>
              <a:rPr lang="pt-BR" dirty="0" err="1"/>
              <a:t>Methodist</a:t>
            </a:r>
            <a:r>
              <a:rPr lang="pt-BR" dirty="0"/>
              <a:t> Hospital - Texas – USA</a:t>
            </a:r>
          </a:p>
          <a:p>
            <a:r>
              <a:rPr lang="pt-BR" dirty="0"/>
              <a:t>- ⁠Mestrado em Ortodontia pela Universidade São Leopoldo </a:t>
            </a:r>
            <a:r>
              <a:rPr lang="pt-BR" dirty="0" err="1"/>
              <a:t>Mandic</a:t>
            </a:r>
            <a:r>
              <a:rPr lang="pt-BR" dirty="0"/>
              <a:t> – Campinas</a:t>
            </a:r>
          </a:p>
          <a:p>
            <a:r>
              <a:rPr lang="pt-BR" dirty="0"/>
              <a:t>- Membro Titular do Colégio Brasileiro de Cirurgia e Traumatologia </a:t>
            </a:r>
            <a:r>
              <a:rPr lang="pt-BR" dirty="0" err="1"/>
              <a:t>Bucomaxilofacial</a:t>
            </a:r>
            <a:endParaRPr lang="pt-BR" dirty="0"/>
          </a:p>
          <a:p>
            <a:r>
              <a:rPr lang="pt-BR" dirty="0"/>
              <a:t>- ⁠Graduação em Odontologia pela Faculdade de Odontologia de Araçatuba - FOA - UNESP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53A841-D09B-4ACF-A0D4-98856CC6F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1" y="679784"/>
            <a:ext cx="4662137" cy="5586584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7EB4CDF6-AB1F-4ADD-90F3-762157133EED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8:00h-9:50h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067FD8-98E7-4D01-8B57-66E49F1FC03D}"/>
              </a:ext>
            </a:extLst>
          </p:cNvPr>
          <p:cNvSpPr/>
          <p:nvPr/>
        </p:nvSpPr>
        <p:spPr>
          <a:xfrm>
            <a:off x="8145132" y="1362677"/>
            <a:ext cx="14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Flávio Ferraz</a:t>
            </a:r>
          </a:p>
        </p:txBody>
      </p:sp>
    </p:spTree>
    <p:extLst>
      <p:ext uri="{BB962C8B-B14F-4D97-AF65-F5344CB8AC3E}">
        <p14:creationId xmlns:p14="http://schemas.microsoft.com/office/powerpoint/2010/main" val="3347841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"Estratégias de tratamento conservador das lesões dos maxilares"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88B556C-016F-4DC3-8FD9-65EA81AC662E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10:10h-12:00h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75988A4-CED8-42AA-8E63-0BFA85F23ACD}"/>
              </a:ext>
            </a:extLst>
          </p:cNvPr>
          <p:cNvSpPr/>
          <p:nvPr/>
        </p:nvSpPr>
        <p:spPr>
          <a:xfrm>
            <a:off x="5356194" y="314309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Especialista em Cirurgia e Traumatologia </a:t>
            </a:r>
            <a:r>
              <a:rPr lang="pt-BR" dirty="0" err="1"/>
              <a:t>Bucomaxilofacial</a:t>
            </a:r>
            <a:r>
              <a:rPr lang="pt-BR" dirty="0"/>
              <a:t> </a:t>
            </a:r>
          </a:p>
          <a:p>
            <a:r>
              <a:rPr lang="pt-BR" dirty="0"/>
              <a:t>Mestre em Patologia </a:t>
            </a:r>
            <a:r>
              <a:rPr lang="pt-BR" dirty="0" err="1"/>
              <a:t>BucalDoutor</a:t>
            </a:r>
            <a:r>
              <a:rPr lang="pt-BR" dirty="0"/>
              <a:t> em Diagnóstico Bucal </a:t>
            </a:r>
          </a:p>
          <a:p>
            <a:r>
              <a:rPr lang="pt-BR" dirty="0"/>
              <a:t>Assistente do serviço de CTBMF do Hospital das Clinicas – FMUSP</a:t>
            </a:r>
          </a:p>
          <a:p>
            <a:r>
              <a:rPr lang="pt-BR" dirty="0"/>
              <a:t>Assistente do departamento de Estomatologia do hospital AC Camargo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AF0B614-B9B1-46D5-BAF7-FA6CACAE106A}"/>
              </a:ext>
            </a:extLst>
          </p:cNvPr>
          <p:cNvSpPr/>
          <p:nvPr/>
        </p:nvSpPr>
        <p:spPr>
          <a:xfrm>
            <a:off x="7951961" y="1519628"/>
            <a:ext cx="2057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André </a:t>
            </a:r>
            <a:r>
              <a:rPr lang="pt-BR" b="1" dirty="0" err="1"/>
              <a:t>Caroli</a:t>
            </a:r>
            <a:r>
              <a:rPr lang="pt-BR" b="1" dirty="0"/>
              <a:t> Rocha </a:t>
            </a:r>
          </a:p>
        </p:txBody>
      </p:sp>
      <p:pic>
        <p:nvPicPr>
          <p:cNvPr id="1026" name="Picture 2" descr="Andre Caroli Rocha | A.C.Camargo Cancer Center">
            <a:extLst>
              <a:ext uri="{FF2B5EF4-FFF2-40B4-BE49-F238E27FC236}">
                <a16:creationId xmlns:a16="http://schemas.microsoft.com/office/drawing/2014/main" id="{D8725E1D-243D-503D-8838-C905FE294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46" y="1027906"/>
            <a:ext cx="516731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50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"Odontologia do Sono: uma nova área de atuação do cirurgião dentista"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513" y="2173873"/>
            <a:ext cx="6429921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•	Formado pela Faculdade de Odontologia de Araçatuba (UNESP) – 1986</a:t>
            </a:r>
          </a:p>
          <a:p>
            <a:pPr marL="0" indent="0">
              <a:buNone/>
            </a:pPr>
            <a:r>
              <a:rPr lang="pt-BR" dirty="0"/>
              <a:t>•	Doutor em Ciências da   Reabilitação (área de concentração:  distúrbios do sono) pelo HRAC/USP – Bauru – 2013</a:t>
            </a:r>
          </a:p>
          <a:p>
            <a:pPr marL="0" indent="0">
              <a:buNone/>
            </a:pPr>
            <a:r>
              <a:rPr lang="pt-BR" dirty="0"/>
              <a:t>•	Diplomado em Odontologia do Sono   pela American Board </a:t>
            </a:r>
            <a:r>
              <a:rPr lang="pt-BR" dirty="0" err="1"/>
              <a:t>of</a:t>
            </a:r>
            <a:r>
              <a:rPr lang="pt-BR" dirty="0"/>
              <a:t> Dental </a:t>
            </a:r>
            <a:r>
              <a:rPr lang="pt-BR" dirty="0" err="1"/>
              <a:t>Sleep</a:t>
            </a:r>
            <a:r>
              <a:rPr lang="pt-BR" dirty="0"/>
              <a:t> Medicine (ABDSM) – 2019</a:t>
            </a:r>
          </a:p>
          <a:p>
            <a:pPr marL="0" indent="0">
              <a:buNone/>
            </a:pPr>
            <a:r>
              <a:rPr lang="pt-BR" dirty="0"/>
              <a:t>•	Membro do corpo editorial do </a:t>
            </a:r>
            <a:r>
              <a:rPr lang="pt-BR" dirty="0" err="1"/>
              <a:t>Journal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Dental </a:t>
            </a:r>
            <a:r>
              <a:rPr lang="pt-BR" dirty="0" err="1"/>
              <a:t>Sleep</a:t>
            </a:r>
            <a:r>
              <a:rPr lang="pt-BR" dirty="0"/>
              <a:t> Medicine (JDSM) – 2020</a:t>
            </a:r>
          </a:p>
          <a:p>
            <a:pPr marL="0" indent="0">
              <a:buNone/>
            </a:pPr>
            <a:r>
              <a:rPr lang="pt-BR" dirty="0"/>
              <a:t>•	Membro da força-tarefa da American </a:t>
            </a:r>
            <a:r>
              <a:rPr lang="pt-BR" dirty="0" err="1"/>
              <a:t>Academy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Dental </a:t>
            </a:r>
            <a:r>
              <a:rPr lang="pt-BR" dirty="0" err="1"/>
              <a:t>Sleep</a:t>
            </a:r>
            <a:r>
              <a:rPr lang="pt-BR" dirty="0"/>
              <a:t> Medicine (AADSM) para a Educação em Odontologia do Sono – 2020 </a:t>
            </a:r>
          </a:p>
          <a:p>
            <a:pPr marL="0" indent="0">
              <a:buNone/>
            </a:pPr>
            <a:r>
              <a:rPr lang="pt-BR" dirty="0"/>
              <a:t>•	Certificado pelo Sistema NOA – Aparelho Intraoral (</a:t>
            </a:r>
            <a:r>
              <a:rPr lang="pt-BR" dirty="0" err="1"/>
              <a:t>Orthoapnea</a:t>
            </a:r>
            <a:r>
              <a:rPr lang="pt-BR" dirty="0"/>
              <a:t>) – Madri/ES – 2022</a:t>
            </a:r>
          </a:p>
          <a:p>
            <a:pPr marL="0" indent="0">
              <a:buNone/>
            </a:pPr>
            <a:r>
              <a:rPr lang="pt-BR" dirty="0"/>
              <a:t>•	Clínica privada desde 1986•	Ministra cursos de capacitação em Odontologia do Sono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21EA93-D0AC-49F0-9CB4-422C793FF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66" y="243398"/>
            <a:ext cx="3583802" cy="637120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44963FCE-DF20-4BA5-9309-4FD90172EFEB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14:00h-15:50h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D3C4342-EEC9-4AD2-B074-8B62674C1696}"/>
              </a:ext>
            </a:extLst>
          </p:cNvPr>
          <p:cNvSpPr/>
          <p:nvPr/>
        </p:nvSpPr>
        <p:spPr>
          <a:xfrm>
            <a:off x="7941294" y="1456293"/>
            <a:ext cx="1866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Walter da Silva Jr.</a:t>
            </a:r>
          </a:p>
        </p:txBody>
      </p:sp>
    </p:spTree>
    <p:extLst>
      <p:ext uri="{BB962C8B-B14F-4D97-AF65-F5344CB8AC3E}">
        <p14:creationId xmlns:p14="http://schemas.microsoft.com/office/powerpoint/2010/main" val="229222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7" y="365125"/>
            <a:ext cx="557062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400" dirty="0"/>
              <a:t>“Ozônio como Estratégia Terapêutica na Odontologia Contemporânea”</a:t>
            </a:r>
            <a:br>
              <a:rPr lang="pt-BR" sz="2400" dirty="0"/>
            </a:br>
            <a:br>
              <a:rPr lang="pt-BR" sz="2400" dirty="0"/>
            </a:br>
            <a:r>
              <a:rPr lang="pt-BR" sz="2000" b="1" dirty="0"/>
              <a:t>Sérgio Bruzadelli e Maria Teresa </a:t>
            </a:r>
            <a:r>
              <a:rPr lang="pt-BR" sz="2000" b="1" dirty="0" err="1"/>
              <a:t>Maiolini</a:t>
            </a:r>
            <a:r>
              <a:rPr lang="pt-BR" sz="2000" b="1" dirty="0"/>
              <a:t> Bruzadelli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299" y="1768893"/>
            <a:ext cx="5007142" cy="9530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pt-BR" sz="1200" dirty="0"/>
          </a:p>
          <a:p>
            <a:pPr marL="0" indent="0">
              <a:buNone/>
            </a:pPr>
            <a:r>
              <a:rPr lang="pt-BR" sz="1200" b="1" dirty="0"/>
              <a:t>Sérgio Bruzadelli Macedo</a:t>
            </a:r>
            <a:r>
              <a:rPr lang="pt-BR" sz="12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dirty="0"/>
              <a:t>Especialista em CTBMF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dirty="0"/>
              <a:t>Mestre e Doutor em CTBMF pela FOA- UNESP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dirty="0"/>
              <a:t>Introdutor da </a:t>
            </a:r>
            <a:r>
              <a:rPr lang="pt-BR" sz="1200" dirty="0" err="1"/>
              <a:t>Ozonioterapia</a:t>
            </a:r>
            <a:r>
              <a:rPr lang="pt-BR" sz="1200" dirty="0"/>
              <a:t> em Odontologia no Brasil em 1996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dirty="0"/>
              <a:t> Professor de CTBMF da Odontologia da UnB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021B5F14-85B7-4151-A2D8-A5450F559F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4" t="11316" r="28917" b="50914"/>
          <a:stretch/>
        </p:blipFill>
        <p:spPr>
          <a:xfrm>
            <a:off x="771482" y="1420851"/>
            <a:ext cx="4472696" cy="401629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419622C-5536-46E2-8E68-3793CD3786F3}"/>
              </a:ext>
            </a:extLst>
          </p:cNvPr>
          <p:cNvSpPr/>
          <p:nvPr/>
        </p:nvSpPr>
        <p:spPr>
          <a:xfrm>
            <a:off x="5578556" y="443330"/>
            <a:ext cx="1263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16:10h-18h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4DE0FF2-D8AF-4404-8B1A-47AD1222969A}"/>
              </a:ext>
            </a:extLst>
          </p:cNvPr>
          <p:cNvSpPr/>
          <p:nvPr/>
        </p:nvSpPr>
        <p:spPr>
          <a:xfrm>
            <a:off x="6210299" y="2800184"/>
            <a:ext cx="557062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b="1" dirty="0"/>
              <a:t>Maria Teresa </a:t>
            </a:r>
            <a:r>
              <a:rPr lang="pt-BR" sz="1000" b="1" dirty="0" err="1"/>
              <a:t>Maiolini</a:t>
            </a:r>
            <a:r>
              <a:rPr lang="pt-BR" sz="1000" b="1" dirty="0"/>
              <a:t> </a:t>
            </a:r>
          </a:p>
          <a:p>
            <a:r>
              <a:rPr lang="pt-BR" sz="1000" dirty="0"/>
              <a:t>Graduada em Odontologia pela Universidade Federal de Alfenas MG </a:t>
            </a:r>
          </a:p>
          <a:p>
            <a:r>
              <a:rPr lang="pt-BR" sz="1000" dirty="0"/>
              <a:t>Especialista  em Periodontia pelo Associação Brasileira de Odontologia do Espírito Santo – ABO</a:t>
            </a:r>
          </a:p>
          <a:p>
            <a:r>
              <a:rPr lang="pt-BR" sz="1000" dirty="0"/>
              <a:t>Especialista em Prótese pela Associação Brasileira de Odontologia do Espírito Santo.</a:t>
            </a:r>
          </a:p>
          <a:p>
            <a:r>
              <a:rPr lang="pt-BR" sz="1000" dirty="0"/>
              <a:t>Pós graduação em Implantodontia pela Faculdade </a:t>
            </a:r>
            <a:r>
              <a:rPr lang="pt-BR" sz="1000" dirty="0" err="1"/>
              <a:t>Funorte</a:t>
            </a:r>
            <a:r>
              <a:rPr lang="pt-BR" sz="1000" dirty="0"/>
              <a:t> ES 2005. </a:t>
            </a:r>
          </a:p>
          <a:p>
            <a:r>
              <a:rPr lang="pt-BR" sz="1000" dirty="0"/>
              <a:t> </a:t>
            </a:r>
          </a:p>
          <a:p>
            <a:r>
              <a:rPr lang="pt-BR" sz="1000" dirty="0"/>
              <a:t>Habilitação em </a:t>
            </a:r>
            <a:r>
              <a:rPr lang="pt-BR" sz="1000" dirty="0" err="1"/>
              <a:t>Ozonioterapia</a:t>
            </a:r>
            <a:r>
              <a:rPr lang="pt-BR" sz="1000" dirty="0"/>
              <a:t> na Odontologia pela UNYLEYA EDITORA E </a:t>
            </a:r>
          </a:p>
          <a:p>
            <a:r>
              <a:rPr lang="pt-BR" sz="1000" dirty="0"/>
              <a:t>CURSOS S/A (2020) - Coordenado por </a:t>
            </a:r>
            <a:r>
              <a:rPr lang="pt-BR" sz="1000" dirty="0" err="1"/>
              <a:t>Dr</a:t>
            </a:r>
            <a:r>
              <a:rPr lang="pt-BR" sz="1000" dirty="0"/>
              <a:t> Sérgio Bruzadelli Macedo.</a:t>
            </a:r>
          </a:p>
          <a:p>
            <a:r>
              <a:rPr lang="pt-BR" sz="1000" dirty="0"/>
              <a:t> </a:t>
            </a:r>
          </a:p>
          <a:p>
            <a:r>
              <a:rPr lang="pt-BR" sz="1000" dirty="0"/>
              <a:t>Atuou como Professora Assistente da Especialização em Implantodontia, curso-</a:t>
            </a:r>
            <a:r>
              <a:rPr lang="pt-BR" sz="1000" dirty="0" err="1"/>
              <a:t>Funorte</a:t>
            </a:r>
            <a:r>
              <a:rPr lang="pt-BR" sz="1000" dirty="0"/>
              <a:t> ES 1998 – 2005. </a:t>
            </a:r>
          </a:p>
          <a:p>
            <a:r>
              <a:rPr lang="pt-BR" sz="1000" dirty="0"/>
              <a:t>  </a:t>
            </a:r>
          </a:p>
          <a:p>
            <a:r>
              <a:rPr lang="pt-BR" sz="1000" dirty="0"/>
              <a:t>Palestrante na área de Periodontia e Implantodontia em Congressos de Odontologia, Universidades e Cursos em ABO.  </a:t>
            </a:r>
          </a:p>
          <a:p>
            <a:r>
              <a:rPr lang="pt-BR" sz="1000" dirty="0"/>
              <a:t> </a:t>
            </a:r>
          </a:p>
          <a:p>
            <a:r>
              <a:rPr lang="pt-BR" sz="1000" dirty="0"/>
              <a:t>Professora  no curso de Habilitação em </a:t>
            </a:r>
            <a:r>
              <a:rPr lang="pt-BR" sz="1000" dirty="0" err="1"/>
              <a:t>Ozonioterapia</a:t>
            </a:r>
            <a:r>
              <a:rPr lang="pt-BR" sz="1000" dirty="0"/>
              <a:t> na Odontologia na área de Periodontia e Implantodontia – Dr. Sérgio Bruzadelli Macedo;  </a:t>
            </a:r>
          </a:p>
          <a:p>
            <a:r>
              <a:rPr lang="pt-BR" sz="1000" dirty="0"/>
              <a:t>  </a:t>
            </a:r>
          </a:p>
          <a:p>
            <a:r>
              <a:rPr lang="pt-BR" sz="1000" dirty="0"/>
              <a:t>Participa do Projeto de Extensão de </a:t>
            </a:r>
            <a:r>
              <a:rPr lang="pt-BR" sz="1000" dirty="0" err="1"/>
              <a:t>Ozonioterapia</a:t>
            </a:r>
            <a:r>
              <a:rPr lang="pt-BR" sz="1000" dirty="0"/>
              <a:t> na Clínica de Necroses dos Maxilares, coordenado pelo </a:t>
            </a:r>
            <a:r>
              <a:rPr lang="pt-BR" sz="1000" dirty="0" err="1"/>
              <a:t>Prof</a:t>
            </a:r>
            <a:r>
              <a:rPr lang="pt-BR" sz="1000" dirty="0"/>
              <a:t> </a:t>
            </a:r>
            <a:r>
              <a:rPr lang="pt-BR" sz="1000" dirty="0" err="1"/>
              <a:t>Dr</a:t>
            </a:r>
            <a:r>
              <a:rPr lang="pt-BR" sz="1000" dirty="0"/>
              <a:t> Sérgio Bruzadelli, no Hospital Universitário de Brasília (HUB), desde setembro de 2019 até o presente momento</a:t>
            </a:r>
          </a:p>
        </p:txBody>
      </p:sp>
    </p:spTree>
    <p:extLst>
      <p:ext uri="{BB962C8B-B14F-4D97-AF65-F5344CB8AC3E}">
        <p14:creationId xmlns:p14="http://schemas.microsoft.com/office/powerpoint/2010/main" val="3345530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8337A-C572-498F-9E85-4869C533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SÁBADO – 28/11/2026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C3F1DA-50EE-4337-8688-C10265E1F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337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"Odontologia Digital no dia-a-dia clínico”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2C3C20D3-8437-4303-946E-7AABAF2F8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27" y="1771483"/>
            <a:ext cx="4351338" cy="4351338"/>
          </a:xfr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7ECB3855-AB76-4646-A63C-A60ECD14D14A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8:00h-9:50h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845656B0-1F64-4EEF-B4F1-94F5F4E38542}"/>
              </a:ext>
            </a:extLst>
          </p:cNvPr>
          <p:cNvSpPr txBox="1">
            <a:spLocks/>
          </p:cNvSpPr>
          <p:nvPr/>
        </p:nvSpPr>
        <p:spPr>
          <a:xfrm>
            <a:off x="5530788" y="1840205"/>
            <a:ext cx="6400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TÉCNICO EM PRÓTESE DENTÁRIA</a:t>
            </a:r>
          </a:p>
          <a:p>
            <a:r>
              <a:rPr lang="pt-BR" dirty="0"/>
              <a:t>Formado pelo Instituto Francano de Prótese Odontológica (IFPO) no ano de 1999</a:t>
            </a:r>
          </a:p>
          <a:p>
            <a:r>
              <a:rPr lang="pt-BR" b="1" dirty="0"/>
              <a:t>CIRURGIÃO DENTISTA</a:t>
            </a:r>
          </a:p>
          <a:p>
            <a:r>
              <a:rPr lang="pt-BR" dirty="0"/>
              <a:t>Formado pela Universidade de Franca – UNIFRAN no ano de 2007</a:t>
            </a:r>
          </a:p>
          <a:p>
            <a:r>
              <a:rPr lang="pt-BR" b="1" dirty="0"/>
              <a:t>IMPLANTODONTISTA</a:t>
            </a:r>
          </a:p>
          <a:p>
            <a:r>
              <a:rPr lang="pt-BR" dirty="0"/>
              <a:t>Especializado pela Universidade de Ribeirão Preto – UNAERP no ano de 2015, atuando na área desde o ano de 2009</a:t>
            </a:r>
          </a:p>
          <a:p>
            <a:r>
              <a:rPr lang="pt-BR" dirty="0"/>
              <a:t>Mestrando no curso de Mestrado em Implantodontia na Faculdade ILAPEO</a:t>
            </a:r>
          </a:p>
          <a:p>
            <a:r>
              <a:rPr lang="pt-BR" b="1" dirty="0"/>
              <a:t>DIGITAL CENTER</a:t>
            </a:r>
          </a:p>
          <a:p>
            <a:r>
              <a:rPr lang="pt-BR" dirty="0"/>
              <a:t>CEO do laboratório de Prótese especializado em CAD/CAM – Digital Center.</a:t>
            </a:r>
            <a:br>
              <a:rPr lang="pt-BR" dirty="0"/>
            </a:br>
            <a:r>
              <a:rPr lang="pt-BR" dirty="0"/>
              <a:t>Responsável Técnico pelas 9 unidades nos estados de São Paulo e Minas Gerais</a:t>
            </a:r>
          </a:p>
          <a:p>
            <a:r>
              <a:rPr lang="pt-BR" b="1" dirty="0"/>
              <a:t>ITI MEMBER</a:t>
            </a:r>
          </a:p>
          <a:p>
            <a:r>
              <a:rPr lang="pt-BR" dirty="0"/>
              <a:t>Membro ativo do </a:t>
            </a:r>
            <a:r>
              <a:rPr lang="pt-BR" b="1" dirty="0" err="1"/>
              <a:t>International</a:t>
            </a:r>
            <a:r>
              <a:rPr lang="pt-BR" b="1" dirty="0"/>
              <a:t> Team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Implantology</a:t>
            </a:r>
            <a:r>
              <a:rPr lang="pt-BR" dirty="0"/>
              <a:t> desde o ano de 2015</a:t>
            </a:r>
          </a:p>
          <a:p>
            <a:r>
              <a:rPr lang="pt-BR" b="1" dirty="0"/>
              <a:t>STRAUMANN/NEODENT</a:t>
            </a:r>
          </a:p>
          <a:p>
            <a:r>
              <a:rPr lang="pt-BR" dirty="0"/>
              <a:t>Speaker Digital, representando a empresa desde o ano de 2017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C7ED468-AA56-44C5-9165-3EFC7BA33F8C}"/>
              </a:ext>
            </a:extLst>
          </p:cNvPr>
          <p:cNvSpPr/>
          <p:nvPr/>
        </p:nvSpPr>
        <p:spPr>
          <a:xfrm>
            <a:off x="8002176" y="1321356"/>
            <a:ext cx="1696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Fernando Lopes</a:t>
            </a:r>
          </a:p>
        </p:txBody>
      </p:sp>
    </p:spTree>
    <p:extLst>
      <p:ext uri="{BB962C8B-B14F-4D97-AF65-F5344CB8AC3E}">
        <p14:creationId xmlns:p14="http://schemas.microsoft.com/office/powerpoint/2010/main" val="1122698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"Fluxo Digital aplicado a estética Dental"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65A3AF1-DA7D-4151-B5C8-BE8305650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79" y="290419"/>
            <a:ext cx="4103813" cy="6155720"/>
          </a:xfrm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06BBEE8-B895-46A1-876C-08D9923065FC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10:10h-12:00h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7C2F61C-467E-4C0A-942D-F562CED0B314}"/>
              </a:ext>
            </a:extLst>
          </p:cNvPr>
          <p:cNvSpPr/>
          <p:nvPr/>
        </p:nvSpPr>
        <p:spPr>
          <a:xfrm>
            <a:off x="7005586" y="1321356"/>
            <a:ext cx="3551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Paulo Eduardo Ferraz </a:t>
            </a:r>
            <a:r>
              <a:rPr lang="pt-BR" b="1" dirty="0" err="1"/>
              <a:t>Bottura</a:t>
            </a:r>
            <a:r>
              <a:rPr lang="pt-BR" b="1" dirty="0"/>
              <a:t> Filho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D4170B-E2AB-4E10-8F8E-A9A7ED1F9B07}"/>
              </a:ext>
            </a:extLst>
          </p:cNvPr>
          <p:cNvSpPr/>
          <p:nvPr/>
        </p:nvSpPr>
        <p:spPr>
          <a:xfrm>
            <a:off x="4805778" y="2529248"/>
            <a:ext cx="703703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Cirurgião Dentista - Faculdade de Odontologia de Lins- UNIMEP- 2000</a:t>
            </a:r>
          </a:p>
          <a:p>
            <a:pPr marL="285750" indent="-285750">
              <a:buFontTx/>
              <a:buChar char="-"/>
            </a:pPr>
            <a:r>
              <a:rPr lang="pt-BR" dirty="0"/>
              <a:t>- Especialista em Periodontia- F O A - UNESP Araçatuba- 2003</a:t>
            </a:r>
          </a:p>
          <a:p>
            <a:pPr marL="285750" indent="-285750">
              <a:buFontTx/>
              <a:buChar char="-"/>
            </a:pPr>
            <a:r>
              <a:rPr lang="pt-BR" dirty="0"/>
              <a:t>- Mestre - Faculdade de Medicina de São José do Rio Preto - FAMERP – 2012</a:t>
            </a:r>
          </a:p>
          <a:p>
            <a:pPr marL="285750" indent="-285750">
              <a:buFontTx/>
              <a:buChar char="-"/>
            </a:pPr>
            <a:r>
              <a:rPr lang="pt-BR" dirty="0"/>
              <a:t>- Especialista em Implantes - COE São José do Rio Preto – 2013</a:t>
            </a:r>
          </a:p>
          <a:p>
            <a:pPr marL="285750" indent="-285750">
              <a:buFontTx/>
              <a:buChar char="-"/>
            </a:pPr>
            <a:r>
              <a:rPr lang="pt-BR" dirty="0"/>
              <a:t>- DSD Team </a:t>
            </a:r>
            <a:r>
              <a:rPr lang="pt-BR" dirty="0" err="1"/>
              <a:t>Member</a:t>
            </a:r>
            <a:r>
              <a:rPr lang="pt-BR" dirty="0"/>
              <a:t>- Miami - 2014.</a:t>
            </a:r>
          </a:p>
          <a:p>
            <a:pPr marL="285750" indent="-285750">
              <a:buFontTx/>
              <a:buChar char="-"/>
            </a:pPr>
            <a:r>
              <a:rPr lang="pt-BR" dirty="0"/>
              <a:t>- </a:t>
            </a:r>
            <a:r>
              <a:rPr lang="pt-BR" dirty="0" err="1"/>
              <a:t>Ex</a:t>
            </a:r>
            <a:r>
              <a:rPr lang="pt-BR" dirty="0"/>
              <a:t> professor de Cirurgia, Periodontia e Anestesiologia da </a:t>
            </a:r>
            <a:r>
              <a:rPr lang="pt-BR" dirty="0" err="1"/>
              <a:t>Unirp</a:t>
            </a:r>
            <a:r>
              <a:rPr lang="pt-BR" dirty="0"/>
              <a:t>- São José do Rio Preto.</a:t>
            </a:r>
          </a:p>
          <a:p>
            <a:pPr marL="285750" indent="-285750">
              <a:buFontTx/>
              <a:buChar char="-"/>
            </a:pPr>
            <a:r>
              <a:rPr lang="pt-BR" dirty="0"/>
              <a:t>- </a:t>
            </a:r>
            <a:r>
              <a:rPr lang="pt-BR" dirty="0" err="1"/>
              <a:t>Co-autor</a:t>
            </a:r>
            <a:r>
              <a:rPr lang="pt-BR" dirty="0"/>
              <a:t> dos livros “</a:t>
            </a:r>
            <a:r>
              <a:rPr lang="pt-BR" dirty="0" err="1"/>
              <a:t>Cad</a:t>
            </a:r>
            <a:r>
              <a:rPr lang="pt-BR" dirty="0"/>
              <a:t> </a:t>
            </a:r>
            <a:r>
              <a:rPr lang="pt-BR" dirty="0" err="1"/>
              <a:t>Cam</a:t>
            </a:r>
            <a:r>
              <a:rPr lang="pt-BR" dirty="0"/>
              <a:t> no laboratório e na Clínica” e “Arquitetura Facial"</a:t>
            </a:r>
          </a:p>
        </p:txBody>
      </p:sp>
    </p:spTree>
    <p:extLst>
      <p:ext uri="{BB962C8B-B14F-4D97-AF65-F5344CB8AC3E}">
        <p14:creationId xmlns:p14="http://schemas.microsoft.com/office/powerpoint/2010/main" val="3530608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AE85691-0EF6-410D-8A7F-3E48919D3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606" y="2089484"/>
            <a:ext cx="4670352" cy="378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66E9172-A3BE-4375-90F5-73ECDFC3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046" y="1425648"/>
            <a:ext cx="4670352" cy="467035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0D64810-C8C0-40CB-ACD2-7792ED8D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 Odontologia na Carreira Militar: Experiências, Desafios e Oportunidades "</a:t>
            </a:r>
          </a:p>
        </p:txBody>
      </p:sp>
    </p:spTree>
    <p:extLst>
      <p:ext uri="{BB962C8B-B14F-4D97-AF65-F5344CB8AC3E}">
        <p14:creationId xmlns:p14="http://schemas.microsoft.com/office/powerpoint/2010/main" val="3579699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7" y="365125"/>
            <a:ext cx="5215689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" Odontologia na Carreira Militar: Experiências, Desafios e Oportunidades "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E73CB-6AB7-4F51-AC88-F9FF1BD9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234" y="2589105"/>
            <a:ext cx="5007142" cy="4351338"/>
          </a:xfrm>
        </p:spPr>
        <p:txBody>
          <a:bodyPr>
            <a:normAutofit/>
          </a:bodyPr>
          <a:lstStyle/>
          <a:p>
            <a:r>
              <a:rPr lang="pt-BR" sz="1800" dirty="0"/>
              <a:t>Graduação em Odontologia FOA-Unesp</a:t>
            </a:r>
          </a:p>
          <a:p>
            <a:r>
              <a:rPr lang="pt-BR" sz="1800" dirty="0"/>
              <a:t>Mestre e especialista em Estomatologia FOA-Unesp</a:t>
            </a:r>
          </a:p>
          <a:p>
            <a:r>
              <a:rPr lang="pt-BR" sz="1800" dirty="0"/>
              <a:t>Habilitação em laser pelo IE Albert Einstein</a:t>
            </a:r>
          </a:p>
          <a:p>
            <a:r>
              <a:rPr lang="pt-BR" sz="1800" dirty="0"/>
              <a:t>Doutoranda em Periodontia FOA-Unesp, com Doutorado Sanduíche pela Universidade de Toronto, Canadá</a:t>
            </a:r>
          </a:p>
          <a:p>
            <a:r>
              <a:rPr lang="pt-BR" sz="1800" dirty="0"/>
              <a:t>Atuação em consultório particular como </a:t>
            </a:r>
            <a:r>
              <a:rPr lang="pt-BR" sz="1800" dirty="0" err="1"/>
              <a:t>estomatologista</a:t>
            </a:r>
            <a:r>
              <a:rPr lang="pt-BR" sz="1800" dirty="0"/>
              <a:t> desde 2010</a:t>
            </a:r>
          </a:p>
          <a:p>
            <a:r>
              <a:rPr lang="pt-BR" sz="1800" dirty="0"/>
              <a:t>Atuação na Estratégia de Saúde da Família SMS Araçatuba - 2012 a 2018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678901-73E9-44C7-BAAD-6C06B4D13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65"/>
          <a:stretch/>
        </p:blipFill>
        <p:spPr>
          <a:xfrm>
            <a:off x="220980" y="367844"/>
            <a:ext cx="4603683" cy="609363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0752DFA-4C43-4AFE-88F7-D14BE68843C4}"/>
              </a:ext>
            </a:extLst>
          </p:cNvPr>
          <p:cNvSpPr/>
          <p:nvPr/>
        </p:nvSpPr>
        <p:spPr>
          <a:xfrm>
            <a:off x="7979830" y="1388825"/>
            <a:ext cx="1783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POLICIA MILITAR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BAE31DA-2A7C-4E79-A0A5-919B9EE7BCF0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14:00h-15:00h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CC6F6F1-23F1-4C50-A2B1-55217CBE26E1}"/>
              </a:ext>
            </a:extLst>
          </p:cNvPr>
          <p:cNvSpPr/>
          <p:nvPr/>
        </p:nvSpPr>
        <p:spPr>
          <a:xfrm>
            <a:off x="7438944" y="1690688"/>
            <a:ext cx="2917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 Tenente Lívia </a:t>
            </a:r>
            <a:r>
              <a:rPr lang="pt-BR" b="1" dirty="0" err="1"/>
              <a:t>Trevelin</a:t>
            </a:r>
            <a:r>
              <a:rPr lang="pt-BR" b="1" dirty="0"/>
              <a:t> </a:t>
            </a:r>
            <a:r>
              <a:rPr lang="pt-BR" b="1" dirty="0" err="1"/>
              <a:t>Arêde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939536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222" y="238299"/>
            <a:ext cx="5215689" cy="1325563"/>
          </a:xfrm>
        </p:spPr>
        <p:txBody>
          <a:bodyPr>
            <a:noAutofit/>
          </a:bodyPr>
          <a:lstStyle/>
          <a:p>
            <a:pPr algn="ctr"/>
            <a:r>
              <a:rPr lang="en-BR" sz="1800" dirty="0"/>
              <a:t>“O CIRURGIÃO-DENTISTA NO EXÉRCITO BRASILEIRO: INGRESSO, CARREIRA E ATUAÇÃO” 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A6FD3A63-41D0-41EB-89CB-738503CC2E6A}"/>
              </a:ext>
            </a:extLst>
          </p:cNvPr>
          <p:cNvSpPr txBox="1">
            <a:spLocks/>
          </p:cNvSpPr>
          <p:nvPr/>
        </p:nvSpPr>
        <p:spPr>
          <a:xfrm>
            <a:off x="4923879" y="681037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15:00h-16:00h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47004-235F-7659-E4DA-CA0C8C3CDD32}"/>
              </a:ext>
            </a:extLst>
          </p:cNvPr>
          <p:cNvSpPr txBox="1"/>
          <p:nvPr/>
        </p:nvSpPr>
        <p:spPr>
          <a:xfrm>
            <a:off x="7150308" y="1443044"/>
            <a:ext cx="4242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R" sz="2000" dirty="0"/>
              <a:t>2º Tenente Yara Gabriele Nunes Maciel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DF3DC-72E8-5570-02D6-E4624AC0BC4B}"/>
              </a:ext>
            </a:extLst>
          </p:cNvPr>
          <p:cNvSpPr txBox="1"/>
          <p:nvPr/>
        </p:nvSpPr>
        <p:spPr>
          <a:xfrm>
            <a:off x="5700050" y="252255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dirty="0"/>
              <a:t>Àrea de Atuação: Dentista do Exército Brasileiro </a:t>
            </a:r>
          </a:p>
          <a:p>
            <a:endParaRPr lang="en-BR" dirty="0"/>
          </a:p>
          <a:p>
            <a:r>
              <a:rPr lang="en-BR" dirty="0"/>
              <a:t>Mini Curriculo : </a:t>
            </a:r>
          </a:p>
          <a:p>
            <a:r>
              <a:rPr lang="en-BR" dirty="0"/>
              <a:t>•⁠  ⁠Formada em Odontologia pela Universidade Federal do Mato Grosso do Sul (UMFS - Campo Grande, MS) </a:t>
            </a:r>
          </a:p>
          <a:p>
            <a:r>
              <a:rPr lang="en-BR" dirty="0"/>
              <a:t>•⁠  ⁠⁠Pós-graduada em Prótese Dentária (Instituto Orofacial das Américas - São Paulo, SP) </a:t>
            </a:r>
          </a:p>
          <a:p>
            <a:r>
              <a:rPr lang="en-BR" dirty="0"/>
              <a:t>•⁠  ⁠Pós-graduada em Dentística (Instituto Orofacial das Américas - São Paulo, SP) ⁠</a:t>
            </a:r>
          </a:p>
          <a:p>
            <a:r>
              <a:rPr lang="en-BR" dirty="0"/>
              <a:t>•⁠  ⁠⁠2• Tenente Dentista do Exército Brasileiro</a:t>
            </a:r>
          </a:p>
          <a:p>
            <a:r>
              <a:rPr lang="en-BR" dirty="0"/>
              <a:t>•⁠  ⁠⁠Atuação em Clínica Particular desde 2023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1F0B33-0B11-291E-0A0D-68C1F7295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08" y="365125"/>
            <a:ext cx="4085167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10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47623-F39D-4E04-B3BF-1EC5B75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58" y="365125"/>
            <a:ext cx="5007142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“Odonto Além do Consultório: Como se Preparar para Concursos Públicos“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EE5E7E-1EBA-4EC0-BB2D-0155A3CF8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42" y="86245"/>
            <a:ext cx="4391121" cy="6589256"/>
          </a:xfrm>
          <a:prstGeom prst="rect">
            <a:avLst/>
          </a:prstGeom>
        </p:spPr>
      </p:pic>
      <p:pic>
        <p:nvPicPr>
          <p:cNvPr id="3074" name="Picture 2" descr="OdontoQuiz | Preparação para Concurso de Odontologia">
            <a:extLst>
              <a:ext uri="{FF2B5EF4-FFF2-40B4-BE49-F238E27FC236}">
                <a16:creationId xmlns:a16="http://schemas.microsoft.com/office/drawing/2014/main" id="{0A1E54A0-98B9-42A0-B62F-586936DCF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90" y="4628063"/>
            <a:ext cx="4772077" cy="232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C0C6BF2-1A6D-4A2F-8BD4-C16617BFF7A5}"/>
              </a:ext>
            </a:extLst>
          </p:cNvPr>
          <p:cNvSpPr txBox="1">
            <a:spLocks/>
          </p:cNvSpPr>
          <p:nvPr/>
        </p:nvSpPr>
        <p:spPr>
          <a:xfrm>
            <a:off x="4911847" y="704788"/>
            <a:ext cx="1552343" cy="323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800" b="1" dirty="0"/>
              <a:t>16:10h-17:10h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E9A70F-9BC5-4200-925A-3A9A7D37CDA1}"/>
              </a:ext>
            </a:extLst>
          </p:cNvPr>
          <p:cNvSpPr/>
          <p:nvPr/>
        </p:nvSpPr>
        <p:spPr>
          <a:xfrm>
            <a:off x="5149143" y="1934323"/>
            <a:ext cx="6542747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400" dirty="0"/>
              <a:t>Graduação em Odontologia: FOP / Unicamp (2001)</a:t>
            </a:r>
          </a:p>
          <a:p>
            <a:pPr marL="285750" indent="-285750">
              <a:buFontTx/>
              <a:buChar char="-"/>
            </a:pPr>
            <a:r>
              <a:rPr lang="pt-BR" sz="1400" dirty="0"/>
              <a:t>- Especialização em Endodontia (APCD)</a:t>
            </a:r>
          </a:p>
          <a:p>
            <a:pPr marL="285750" indent="-285750">
              <a:buFontTx/>
              <a:buChar char="-"/>
            </a:pPr>
            <a:r>
              <a:rPr lang="pt-BR" sz="1400" dirty="0"/>
              <a:t>- Especialização em Gestão Pública em Saúde (Unicamp) </a:t>
            </a:r>
          </a:p>
          <a:p>
            <a:pPr marL="285750" indent="-285750">
              <a:buFontTx/>
              <a:buChar char="-"/>
            </a:pPr>
            <a:r>
              <a:rPr lang="pt-BR" sz="1400" dirty="0"/>
              <a:t>- Mestrado em Farmacologia, Anestesiologia e Terapêutica (Unicamp) </a:t>
            </a:r>
          </a:p>
          <a:p>
            <a:pPr marL="285750" indent="-285750">
              <a:buFontTx/>
              <a:buChar char="-"/>
            </a:pPr>
            <a:r>
              <a:rPr lang="pt-BR" sz="1400" dirty="0"/>
              <a:t>- Doutorado em Saúde da Criança e do Adolescente (Unicamp)</a:t>
            </a:r>
          </a:p>
          <a:p>
            <a:pPr marL="285750" indent="-285750">
              <a:buFontTx/>
              <a:buChar char="-"/>
            </a:pPr>
            <a:r>
              <a:rPr lang="pt-BR" sz="1400" dirty="0"/>
              <a:t>- Pesquisadora Universidade de </a:t>
            </a:r>
            <a:r>
              <a:rPr lang="pt-BR" sz="1400" dirty="0" err="1"/>
              <a:t>Tübingen</a:t>
            </a:r>
            <a:r>
              <a:rPr lang="pt-BR" sz="1400" dirty="0"/>
              <a:t> – Alemanha</a:t>
            </a:r>
          </a:p>
          <a:p>
            <a:pPr marL="285750" indent="-285750">
              <a:buFontTx/>
              <a:buChar char="-"/>
            </a:pPr>
            <a:r>
              <a:rPr lang="pt-BR" sz="1400" dirty="0"/>
              <a:t>- Cofundadora da Plataforma </a:t>
            </a:r>
            <a:r>
              <a:rPr lang="pt-BR" sz="1400" dirty="0" err="1"/>
              <a:t>OdontoQuiz</a:t>
            </a:r>
            <a:endParaRPr lang="pt-BR" sz="1400" dirty="0"/>
          </a:p>
          <a:p>
            <a:pPr marL="285750" indent="-285750">
              <a:buFontTx/>
              <a:buChar char="-"/>
            </a:pPr>
            <a:r>
              <a:rPr lang="pt-BR" sz="1400" dirty="0"/>
              <a:t>- Convocada em 6 Concursos Públicos: Prefeitura Municipal Americana (2x), Prefeitura Municipal Campinas, Prefeitura Municipal Santa Bárbara </a:t>
            </a:r>
            <a:r>
              <a:rPr lang="pt-BR" sz="1400" dirty="0" err="1"/>
              <a:t>S’Oeste</a:t>
            </a:r>
            <a:r>
              <a:rPr lang="pt-BR" sz="1400" dirty="0"/>
              <a:t>, Prefeitura Municipal Cabreúva, Prefeitura Municipal Itupeva. - Vínculos de Trabalho: Prefeitura Municipal de Americana, Prefeitura Municipal de Sumaré, Prefeitura Municipal de Campinas, Prefeitura Municipal de Itupeva – Coordenadora de Saúde Bucal.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63C15C-28E0-4E47-A62D-8870586FF709}"/>
              </a:ext>
            </a:extLst>
          </p:cNvPr>
          <p:cNvSpPr/>
          <p:nvPr/>
        </p:nvSpPr>
        <p:spPr>
          <a:xfrm>
            <a:off x="7307194" y="1443174"/>
            <a:ext cx="2635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Karina Camillo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Carrascoza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091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5285B-35D2-48BA-8F3D-8B9324FA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191" y="2578935"/>
            <a:ext cx="7570032" cy="1325563"/>
          </a:xfrm>
        </p:spPr>
        <p:txBody>
          <a:bodyPr>
            <a:normAutofit/>
          </a:bodyPr>
          <a:lstStyle/>
          <a:p>
            <a:r>
              <a:rPr lang="pt-BR" dirty="0"/>
              <a:t>JANTAR – 28/11/2026 </a:t>
            </a:r>
            <a:r>
              <a:rPr lang="pt-BR"/>
              <a:t>as 21:00h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246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2694</Words>
  <Application>Microsoft Macintosh PowerPoint</Application>
  <PresentationFormat>Widescreen</PresentationFormat>
  <Paragraphs>245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PROGRAMAÇÃO DE PALESTRAS</vt:lpstr>
      <vt:lpstr>“Ecossistema de Inovação da Unesp - Transformando o Futuro”</vt:lpstr>
      <vt:lpstr>“Legislação da Odontologia da HOF - Simpósio”</vt:lpstr>
      <vt:lpstr>PROGRAMAÇÃO DE PALESTRAS</vt:lpstr>
      <vt:lpstr>QUINTA – 26/11/2026</vt:lpstr>
      <vt:lpstr>“Bases do Fluxo Digital Aplicado à Periodontia e Implantodontia”</vt:lpstr>
      <vt:lpstr>"Odontologia além do consultório: a atuação do cirurgião-dentista no atendimento domiciliar"</vt:lpstr>
      <vt:lpstr>"Cirurgias estéticas da face na odontologia moderna"</vt:lpstr>
      <vt:lpstr>“Sedação: Técnicas, Indicações e Aplicações Clínicas”</vt:lpstr>
      <vt:lpstr>SEXTA – 27/11/2026</vt:lpstr>
      <vt:lpstr>"Cirurgia Ortognática na era digital: Do Planejamento virtual à sala cirúrgica”</vt:lpstr>
      <vt:lpstr>"Estratégias de tratamento conservador das lesões dos maxilares"</vt:lpstr>
      <vt:lpstr>"Odontologia do Sono: uma nova área de atuação do cirurgião dentista"</vt:lpstr>
      <vt:lpstr>“Ozônio como Estratégia Terapêutica na Odontologia Contemporânea”  Sérgio Bruzadelli e Maria Teresa Maiolini Bruzadelli</vt:lpstr>
      <vt:lpstr>SÁBADO – 28/11/2026</vt:lpstr>
      <vt:lpstr>"Odontologia Digital no dia-a-dia clínico”</vt:lpstr>
      <vt:lpstr>"Fluxo Digital aplicado a estética Dental"</vt:lpstr>
      <vt:lpstr>" Odontologia na Carreira Militar: Experiências, Desafios e Oportunidades "</vt:lpstr>
      <vt:lpstr>" Odontologia na Carreira Militar: Experiências, Desafios e Oportunidades "</vt:lpstr>
      <vt:lpstr>“O CIRURGIÃO-DENTISTA NO EXÉRCITO BRASILEIRO: INGRESSO, CARREIRA E ATUAÇÃO” </vt:lpstr>
      <vt:lpstr>“Odonto Além do Consultório: Como se Preparar para Concursos Públicos“</vt:lpstr>
      <vt:lpstr>JANTAR – 28/11/2026 as 21:00h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PALESTRAS</dc:title>
  <dc:creator>Francisley Ávila Souza</dc:creator>
  <cp:lastModifiedBy>Maisa Pereira</cp:lastModifiedBy>
  <cp:revision>5</cp:revision>
  <dcterms:created xsi:type="dcterms:W3CDTF">2026-09-01T14:32:50Z</dcterms:created>
  <dcterms:modified xsi:type="dcterms:W3CDTF">2026-10-02T20:58:03Z</dcterms:modified>
</cp:coreProperties>
</file>